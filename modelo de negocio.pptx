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519B0-6BCA-4B47-BC97-B1A451B3D502}" v="28" dt="2025-12-01T21:33:37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1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IAN CAMACHO, MAVI ANDREA LARISSA" userId="b7169500-7d71-4eb2-a03a-a7686d9ca703" providerId="ADAL" clId="{5CF14488-7DDB-5518-9F27-D9890F8D1D05}"/>
    <pc:docChg chg="undo custSel modSld">
      <pc:chgData name="GRACIAN CAMACHO, MAVI ANDREA LARISSA" userId="b7169500-7d71-4eb2-a03a-a7686d9ca703" providerId="ADAL" clId="{5CF14488-7DDB-5518-9F27-D9890F8D1D05}" dt="2025-12-01T21:33:59.428" v="504" actId="27636"/>
      <pc:docMkLst>
        <pc:docMk/>
      </pc:docMkLst>
      <pc:sldChg chg="addSp delSp modSp mod setBg">
        <pc:chgData name="GRACIAN CAMACHO, MAVI ANDREA LARISSA" userId="b7169500-7d71-4eb2-a03a-a7686d9ca703" providerId="ADAL" clId="{5CF14488-7DDB-5518-9F27-D9890F8D1D05}" dt="2025-12-01T21:08:18.286" v="254" actId="1076"/>
        <pc:sldMkLst>
          <pc:docMk/>
          <pc:sldMk cId="0" sldId="256"/>
        </pc:sldMkLst>
        <pc:spChg chg="mod">
          <ac:chgData name="GRACIAN CAMACHO, MAVI ANDREA LARISSA" userId="b7169500-7d71-4eb2-a03a-a7686d9ca703" providerId="ADAL" clId="{5CF14488-7DDB-5518-9F27-D9890F8D1D05}" dt="2025-12-01T21:08:18.286" v="25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RACIAN CAMACHO, MAVI ANDREA LARISSA" userId="b7169500-7d71-4eb2-a03a-a7686d9ca703" providerId="ADAL" clId="{5CF14488-7DDB-5518-9F27-D9890F8D1D05}" dt="2025-12-01T21:08:18.286" v="254" actId="107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GRACIAN CAMACHO, MAVI ANDREA LARISSA" userId="b7169500-7d71-4eb2-a03a-a7686d9ca703" providerId="ADAL" clId="{5CF14488-7DDB-5518-9F27-D9890F8D1D05}" dt="2025-12-01T21:01:39.566" v="82" actId="22"/>
          <ac:spMkLst>
            <pc:docMk/>
            <pc:sldMk cId="0" sldId="256"/>
            <ac:spMk id="5" creationId="{9AE67D13-9D51-419A-A721-1F6FBDF98EE0}"/>
          </ac:spMkLst>
        </pc:spChg>
        <pc:spChg chg="add del mod">
          <ac:chgData name="GRACIAN CAMACHO, MAVI ANDREA LARISSA" userId="b7169500-7d71-4eb2-a03a-a7686d9ca703" providerId="ADAL" clId="{5CF14488-7DDB-5518-9F27-D9890F8D1D05}" dt="2025-12-01T21:01:59.735" v="85" actId="478"/>
          <ac:spMkLst>
            <pc:docMk/>
            <pc:sldMk cId="0" sldId="256"/>
            <ac:spMk id="7" creationId="{12420223-D7B8-A8F9-5F67-F71E39288006}"/>
          </ac:spMkLst>
        </pc:spChg>
        <pc:spChg chg="add">
          <ac:chgData name="GRACIAN CAMACHO, MAVI ANDREA LARISSA" userId="b7169500-7d71-4eb2-a03a-a7686d9ca703" providerId="ADAL" clId="{5CF14488-7DDB-5518-9F27-D9890F8D1D05}" dt="2025-12-01T21:06:27.764" v="179" actId="26606"/>
          <ac:spMkLst>
            <pc:docMk/>
            <pc:sldMk cId="0" sldId="256"/>
            <ac:spMk id="1033" creationId="{8F90786E-B72D-4C32-BDCE-A170B007822D}"/>
          </ac:spMkLst>
        </pc:spChg>
        <pc:spChg chg="add">
          <ac:chgData name="GRACIAN CAMACHO, MAVI ANDREA LARISSA" userId="b7169500-7d71-4eb2-a03a-a7686d9ca703" providerId="ADAL" clId="{5CF14488-7DDB-5518-9F27-D9890F8D1D05}" dt="2025-12-01T21:06:27.764" v="179" actId="26606"/>
          <ac:spMkLst>
            <pc:docMk/>
            <pc:sldMk cId="0" sldId="256"/>
            <ac:spMk id="1035" creationId="{5E46F2E7-848F-4A6C-A098-4764FDEA771A}"/>
          </ac:spMkLst>
        </pc:spChg>
        <pc:picChg chg="add del mod">
          <ac:chgData name="GRACIAN CAMACHO, MAVI ANDREA LARISSA" userId="b7169500-7d71-4eb2-a03a-a7686d9ca703" providerId="ADAL" clId="{5CF14488-7DDB-5518-9F27-D9890F8D1D05}" dt="2025-12-01T21:05:14.564" v="175" actId="478"/>
          <ac:picMkLst>
            <pc:docMk/>
            <pc:sldMk cId="0" sldId="256"/>
            <ac:picMk id="1026" creationId="{83871F82-38B0-5E1E-74F2-D7710307C0A0}"/>
          </ac:picMkLst>
        </pc:picChg>
        <pc:picChg chg="add mod ord">
          <ac:chgData name="GRACIAN CAMACHO, MAVI ANDREA LARISSA" userId="b7169500-7d71-4eb2-a03a-a7686d9ca703" providerId="ADAL" clId="{5CF14488-7DDB-5518-9F27-D9890F8D1D05}" dt="2025-12-01T21:06:50.454" v="186" actId="1076"/>
          <ac:picMkLst>
            <pc:docMk/>
            <pc:sldMk cId="0" sldId="256"/>
            <ac:picMk id="1028" creationId="{DC4B4B4F-30CB-B306-FEF1-F0E351A02799}"/>
          </ac:picMkLst>
        </pc:picChg>
      </pc:sldChg>
      <pc:sldChg chg="modSp mod">
        <pc:chgData name="GRACIAN CAMACHO, MAVI ANDREA LARISSA" userId="b7169500-7d71-4eb2-a03a-a7686d9ca703" providerId="ADAL" clId="{5CF14488-7DDB-5518-9F27-D9890F8D1D05}" dt="2025-12-01T21:04:00.950" v="104" actId="5793"/>
        <pc:sldMkLst>
          <pc:docMk/>
          <pc:sldMk cId="0" sldId="257"/>
        </pc:sldMkLst>
        <pc:spChg chg="mod">
          <ac:chgData name="GRACIAN CAMACHO, MAVI ANDREA LARISSA" userId="b7169500-7d71-4eb2-a03a-a7686d9ca703" providerId="ADAL" clId="{5CF14488-7DDB-5518-9F27-D9890F8D1D05}" dt="2025-12-01T21:04:00.950" v="104" actId="5793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GRACIAN CAMACHO, MAVI ANDREA LARISSA" userId="b7169500-7d71-4eb2-a03a-a7686d9ca703" providerId="ADAL" clId="{5CF14488-7DDB-5518-9F27-D9890F8D1D05}" dt="2025-12-01T21:12:41.918" v="266" actId="14100"/>
        <pc:sldMkLst>
          <pc:docMk/>
          <pc:sldMk cId="0" sldId="258"/>
        </pc:sldMkLst>
        <pc:spChg chg="mod">
          <ac:chgData name="GRACIAN CAMACHO, MAVI ANDREA LARISSA" userId="b7169500-7d71-4eb2-a03a-a7686d9ca703" providerId="ADAL" clId="{5CF14488-7DDB-5518-9F27-D9890F8D1D05}" dt="2025-12-01T21:12:41.918" v="266" actId="14100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12:37.454" v="265" actId="1076"/>
          <ac:picMkLst>
            <pc:docMk/>
            <pc:sldMk cId="0" sldId="258"/>
            <ac:picMk id="4" creationId="{BC151B73-4DF8-54E5-559D-8041CB5E70B4}"/>
          </ac:picMkLst>
        </pc:picChg>
      </pc:sldChg>
      <pc:sldChg chg="addSp delSp modSp mod">
        <pc:chgData name="GRACIAN CAMACHO, MAVI ANDREA LARISSA" userId="b7169500-7d71-4eb2-a03a-a7686d9ca703" providerId="ADAL" clId="{5CF14488-7DDB-5518-9F27-D9890F8D1D05}" dt="2025-12-01T21:17:47.304" v="376" actId="20577"/>
        <pc:sldMkLst>
          <pc:docMk/>
          <pc:sldMk cId="0" sldId="259"/>
        </pc:sldMkLst>
        <pc:spChg chg="mod">
          <ac:chgData name="GRACIAN CAMACHO, MAVI ANDREA LARISSA" userId="b7169500-7d71-4eb2-a03a-a7686d9ca703" providerId="ADAL" clId="{5CF14488-7DDB-5518-9F27-D9890F8D1D05}" dt="2025-12-01T21:17:47.304" v="37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GRACIAN CAMACHO, MAVI ANDREA LARISSA" userId="b7169500-7d71-4eb2-a03a-a7686d9ca703" providerId="ADAL" clId="{5CF14488-7DDB-5518-9F27-D9890F8D1D05}" dt="2025-12-01T21:17:37.246" v="375" actId="122"/>
          <ac:spMkLst>
            <pc:docMk/>
            <pc:sldMk cId="0" sldId="259"/>
            <ac:spMk id="3" creationId="{00000000-0000-0000-0000-000000000000}"/>
          </ac:spMkLst>
        </pc:spChg>
        <pc:picChg chg="add del mod">
          <ac:chgData name="GRACIAN CAMACHO, MAVI ANDREA LARISSA" userId="b7169500-7d71-4eb2-a03a-a7686d9ca703" providerId="ADAL" clId="{5CF14488-7DDB-5518-9F27-D9890F8D1D05}" dt="2025-12-01T21:16:16.641" v="330" actId="21"/>
          <ac:picMkLst>
            <pc:docMk/>
            <pc:sldMk cId="0" sldId="259"/>
            <ac:picMk id="4" creationId="{DA57C281-079E-5E9A-1C3B-E2E21A3262BD}"/>
          </ac:picMkLst>
        </pc:picChg>
      </pc:sldChg>
      <pc:sldChg chg="addSp modSp mod">
        <pc:chgData name="GRACIAN CAMACHO, MAVI ANDREA LARISSA" userId="b7169500-7d71-4eb2-a03a-a7686d9ca703" providerId="ADAL" clId="{5CF14488-7DDB-5518-9F27-D9890F8D1D05}" dt="2025-12-01T21:17:22.555" v="371" actId="5793"/>
        <pc:sldMkLst>
          <pc:docMk/>
          <pc:sldMk cId="0" sldId="260"/>
        </pc:sldMkLst>
        <pc:spChg chg="mod">
          <ac:chgData name="GRACIAN CAMACHO, MAVI ANDREA LARISSA" userId="b7169500-7d71-4eb2-a03a-a7686d9ca703" providerId="ADAL" clId="{5CF14488-7DDB-5518-9F27-D9890F8D1D05}" dt="2025-12-01T21:17:22.555" v="371" actId="5793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16:19.517" v="331"/>
          <ac:picMkLst>
            <pc:docMk/>
            <pc:sldMk cId="0" sldId="260"/>
            <ac:picMk id="4" creationId="{2C2117CF-708C-82F8-AC8B-7F53D7E4AD78}"/>
          </ac:picMkLst>
        </pc:picChg>
      </pc:sldChg>
      <pc:sldChg chg="addSp modSp mod">
        <pc:chgData name="GRACIAN CAMACHO, MAVI ANDREA LARISSA" userId="b7169500-7d71-4eb2-a03a-a7686d9ca703" providerId="ADAL" clId="{5CF14488-7DDB-5518-9F27-D9890F8D1D05}" dt="2025-12-01T21:19:53.924" v="403" actId="27636"/>
        <pc:sldMkLst>
          <pc:docMk/>
          <pc:sldMk cId="0" sldId="261"/>
        </pc:sldMkLst>
        <pc:spChg chg="mod">
          <ac:chgData name="GRACIAN CAMACHO, MAVI ANDREA LARISSA" userId="b7169500-7d71-4eb2-a03a-a7686d9ca703" providerId="ADAL" clId="{5CF14488-7DDB-5518-9F27-D9890F8D1D05}" dt="2025-12-01T21:19:53.924" v="403" actId="2763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19:50.138" v="401" actId="1076"/>
          <ac:picMkLst>
            <pc:docMk/>
            <pc:sldMk cId="0" sldId="261"/>
            <ac:picMk id="4" creationId="{BECBD18F-B2AE-3005-4657-34B4062EFDE9}"/>
          </ac:picMkLst>
        </pc:picChg>
      </pc:sldChg>
      <pc:sldChg chg="addSp modSp mod">
        <pc:chgData name="GRACIAN CAMACHO, MAVI ANDREA LARISSA" userId="b7169500-7d71-4eb2-a03a-a7686d9ca703" providerId="ADAL" clId="{5CF14488-7DDB-5518-9F27-D9890F8D1D05}" dt="2025-12-01T21:20:36.589" v="410" actId="14100"/>
        <pc:sldMkLst>
          <pc:docMk/>
          <pc:sldMk cId="0" sldId="262"/>
        </pc:sldMkLst>
        <pc:spChg chg="mod">
          <ac:chgData name="GRACIAN CAMACHO, MAVI ANDREA LARISSA" userId="b7169500-7d71-4eb2-a03a-a7686d9ca703" providerId="ADAL" clId="{5CF14488-7DDB-5518-9F27-D9890F8D1D05}" dt="2025-12-01T21:20:30.122" v="407" actId="14100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20:36.589" v="410" actId="14100"/>
          <ac:picMkLst>
            <pc:docMk/>
            <pc:sldMk cId="0" sldId="262"/>
            <ac:picMk id="4" creationId="{81E3A389-0A7F-39F7-5C69-074C38284FD1}"/>
          </ac:picMkLst>
        </pc:picChg>
      </pc:sldChg>
      <pc:sldChg chg="addSp modSp mod">
        <pc:chgData name="GRACIAN CAMACHO, MAVI ANDREA LARISSA" userId="b7169500-7d71-4eb2-a03a-a7686d9ca703" providerId="ADAL" clId="{5CF14488-7DDB-5518-9F27-D9890F8D1D05}" dt="2025-12-01T21:21:30.056" v="421" actId="14100"/>
        <pc:sldMkLst>
          <pc:docMk/>
          <pc:sldMk cId="0" sldId="263"/>
        </pc:sldMkLst>
        <pc:spChg chg="mod">
          <ac:chgData name="GRACIAN CAMACHO, MAVI ANDREA LARISSA" userId="b7169500-7d71-4eb2-a03a-a7686d9ca703" providerId="ADAL" clId="{5CF14488-7DDB-5518-9F27-D9890F8D1D05}" dt="2025-12-01T21:21:30.056" v="421" actId="14100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21:22.356" v="418" actId="1076"/>
          <ac:picMkLst>
            <pc:docMk/>
            <pc:sldMk cId="0" sldId="263"/>
            <ac:picMk id="4" creationId="{B62CB05E-6933-CF8B-A7D2-2061722CE180}"/>
          </ac:picMkLst>
        </pc:picChg>
      </pc:sldChg>
      <pc:sldChg chg="modSp mod">
        <pc:chgData name="GRACIAN CAMACHO, MAVI ANDREA LARISSA" userId="b7169500-7d71-4eb2-a03a-a7686d9ca703" providerId="ADAL" clId="{5CF14488-7DDB-5518-9F27-D9890F8D1D05}" dt="2025-12-01T21:22:53.857" v="444" actId="14100"/>
        <pc:sldMkLst>
          <pc:docMk/>
          <pc:sldMk cId="0" sldId="264"/>
        </pc:sldMkLst>
        <pc:spChg chg="mod">
          <ac:chgData name="GRACIAN CAMACHO, MAVI ANDREA LARISSA" userId="b7169500-7d71-4eb2-a03a-a7686d9ca703" providerId="ADAL" clId="{5CF14488-7DDB-5518-9F27-D9890F8D1D05}" dt="2025-12-01T21:22:53.857" v="444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GRACIAN CAMACHO, MAVI ANDREA LARISSA" userId="b7169500-7d71-4eb2-a03a-a7686d9ca703" providerId="ADAL" clId="{5CF14488-7DDB-5518-9F27-D9890F8D1D05}" dt="2025-12-01T21:22:22.853" v="435" actId="14100"/>
        <pc:sldMkLst>
          <pc:docMk/>
          <pc:sldMk cId="0" sldId="265"/>
        </pc:sldMkLst>
        <pc:spChg chg="mod">
          <ac:chgData name="GRACIAN CAMACHO, MAVI ANDREA LARISSA" userId="b7169500-7d71-4eb2-a03a-a7686d9ca703" providerId="ADAL" clId="{5CF14488-7DDB-5518-9F27-D9890F8D1D05}" dt="2025-12-01T21:22:22.853" v="435" actId="14100"/>
          <ac:spMkLst>
            <pc:docMk/>
            <pc:sldMk cId="0" sldId="265"/>
            <ac:spMk id="3" creationId="{00000000-0000-0000-0000-000000000000}"/>
          </ac:spMkLst>
        </pc:spChg>
      </pc:sldChg>
      <pc:sldChg chg="addSp modSp mod">
        <pc:chgData name="GRACIAN CAMACHO, MAVI ANDREA LARISSA" userId="b7169500-7d71-4eb2-a03a-a7686d9ca703" providerId="ADAL" clId="{5CF14488-7DDB-5518-9F27-D9890F8D1D05}" dt="2025-12-01T21:24:35.839" v="456" actId="1076"/>
        <pc:sldMkLst>
          <pc:docMk/>
          <pc:sldMk cId="0" sldId="266"/>
        </pc:sldMkLst>
        <pc:spChg chg="mod">
          <ac:chgData name="GRACIAN CAMACHO, MAVI ANDREA LARISSA" userId="b7169500-7d71-4eb2-a03a-a7686d9ca703" providerId="ADAL" clId="{5CF14488-7DDB-5518-9F27-D9890F8D1D05}" dt="2025-12-01T21:24:26.492" v="454" actId="14100"/>
          <ac:spMkLst>
            <pc:docMk/>
            <pc:sldMk cId="0" sldId="266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24:35.839" v="456" actId="1076"/>
          <ac:picMkLst>
            <pc:docMk/>
            <pc:sldMk cId="0" sldId="266"/>
            <ac:picMk id="4" creationId="{45C6A678-82D4-7807-16DA-7D5729B8CF4C}"/>
          </ac:picMkLst>
        </pc:picChg>
      </pc:sldChg>
      <pc:sldChg chg="addSp modSp mod">
        <pc:chgData name="GRACIAN CAMACHO, MAVI ANDREA LARISSA" userId="b7169500-7d71-4eb2-a03a-a7686d9ca703" providerId="ADAL" clId="{5CF14488-7DDB-5518-9F27-D9890F8D1D05}" dt="2025-12-01T21:26:43.179" v="482" actId="404"/>
        <pc:sldMkLst>
          <pc:docMk/>
          <pc:sldMk cId="0" sldId="267"/>
        </pc:sldMkLst>
        <pc:spChg chg="mod">
          <ac:chgData name="GRACIAN CAMACHO, MAVI ANDREA LARISSA" userId="b7169500-7d71-4eb2-a03a-a7686d9ca703" providerId="ADAL" clId="{5CF14488-7DDB-5518-9F27-D9890F8D1D05}" dt="2025-12-01T21:26:43.179" v="482" actId="404"/>
          <ac:spMkLst>
            <pc:docMk/>
            <pc:sldMk cId="0" sldId="267"/>
            <ac:spMk id="3" creationId="{00000000-0000-0000-0000-000000000000}"/>
          </ac:spMkLst>
        </pc:spChg>
        <pc:graphicFrameChg chg="add mod modGraphic">
          <ac:chgData name="GRACIAN CAMACHO, MAVI ANDREA LARISSA" userId="b7169500-7d71-4eb2-a03a-a7686d9ca703" providerId="ADAL" clId="{5CF14488-7DDB-5518-9F27-D9890F8D1D05}" dt="2025-12-01T21:26:32.370" v="480" actId="14734"/>
          <ac:graphicFrameMkLst>
            <pc:docMk/>
            <pc:sldMk cId="0" sldId="267"/>
            <ac:graphicFrameMk id="4" creationId="{72C0939E-DABE-E7D8-A582-113BA112D072}"/>
          </ac:graphicFrameMkLst>
        </pc:graphicFrameChg>
      </pc:sldChg>
      <pc:sldChg chg="addSp modSp mod">
        <pc:chgData name="GRACIAN CAMACHO, MAVI ANDREA LARISSA" userId="b7169500-7d71-4eb2-a03a-a7686d9ca703" providerId="ADAL" clId="{5CF14488-7DDB-5518-9F27-D9890F8D1D05}" dt="2025-12-01T21:27:31.640" v="486" actId="1076"/>
        <pc:sldMkLst>
          <pc:docMk/>
          <pc:sldMk cId="0" sldId="268"/>
        </pc:sldMkLst>
        <pc:spChg chg="mod">
          <ac:chgData name="GRACIAN CAMACHO, MAVI ANDREA LARISSA" userId="b7169500-7d71-4eb2-a03a-a7686d9ca703" providerId="ADAL" clId="{5CF14488-7DDB-5518-9F27-D9890F8D1D05}" dt="2025-12-01T20:59:18.673" v="80" actId="20577"/>
          <ac:spMkLst>
            <pc:docMk/>
            <pc:sldMk cId="0" sldId="268"/>
            <ac:spMk id="3" creationId="{00000000-0000-0000-0000-000000000000}"/>
          </ac:spMkLst>
        </pc:spChg>
        <pc:picChg chg="add mod">
          <ac:chgData name="GRACIAN CAMACHO, MAVI ANDREA LARISSA" userId="b7169500-7d71-4eb2-a03a-a7686d9ca703" providerId="ADAL" clId="{5CF14488-7DDB-5518-9F27-D9890F8D1D05}" dt="2025-12-01T21:27:31.640" v="486" actId="1076"/>
          <ac:picMkLst>
            <pc:docMk/>
            <pc:sldMk cId="0" sldId="268"/>
            <ac:picMk id="4" creationId="{852E7B03-99D4-6FF4-20A2-B361CBF4DF88}"/>
          </ac:picMkLst>
        </pc:picChg>
      </pc:sldChg>
      <pc:sldChg chg="modSp mod">
        <pc:chgData name="GRACIAN CAMACHO, MAVI ANDREA LARISSA" userId="b7169500-7d71-4eb2-a03a-a7686d9ca703" providerId="ADAL" clId="{5CF14488-7DDB-5518-9F27-D9890F8D1D05}" dt="2025-12-01T21:33:59.428" v="504" actId="27636"/>
        <pc:sldMkLst>
          <pc:docMk/>
          <pc:sldMk cId="0" sldId="269"/>
        </pc:sldMkLst>
        <pc:spChg chg="mod">
          <ac:chgData name="GRACIAN CAMACHO, MAVI ANDREA LARISSA" userId="b7169500-7d71-4eb2-a03a-a7686d9ca703" providerId="ADAL" clId="{5CF14488-7DDB-5518-9F27-D9890F8D1D05}" dt="2025-12-01T21:33:59.428" v="504" actId="27636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Créditos Hipotecarios Para Comerciantes Y Emprendedores En México - Tu Casa  Express">
            <a:extLst>
              <a:ext uri="{FF2B5EF4-FFF2-40B4-BE49-F238E27FC236}">
                <a16:creationId xmlns:a16="http://schemas.microsoft.com/office/drawing/2014/main" id="{DC4B4B4F-30CB-B306-FEF1-F0E351A02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0" r="15780"/>
          <a:stretch>
            <a:fillRect/>
          </a:stretch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784" y="2060327"/>
            <a:ext cx="3866446" cy="856477"/>
          </a:xfrm>
        </p:spPr>
        <p:txBody>
          <a:bodyPr anchor="t">
            <a:normAutofit/>
          </a:bodyPr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rPr lang="es-MX" sz="3400" dirty="0">
                <a:solidFill>
                  <a:srgbClr val="FFFFFF"/>
                </a:solidFill>
              </a:rPr>
              <a:t>NEOMORTGAGE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452" y="3429000"/>
            <a:ext cx="5071095" cy="1559203"/>
          </a:xfrm>
        </p:spPr>
        <p:txBody>
          <a:bodyPr>
            <a:normAutofit/>
          </a:bodyPr>
          <a:lstStyle/>
          <a:p>
            <a:pPr marL="0" indent="0" algn="ctr">
              <a:buNone/>
              <a:defRPr sz="2200">
                <a:solidFill>
                  <a:srgbClr val="E6F0FF"/>
                </a:solidFill>
              </a:defRPr>
            </a:pPr>
            <a:r>
              <a:rPr lang="es-419" sz="1700" b="1" dirty="0">
                <a:solidFill>
                  <a:srgbClr val="FFFFFF"/>
                </a:solidFill>
              </a:rPr>
              <a:t>Proyecto Final Modelos de Crédito</a:t>
            </a:r>
          </a:p>
          <a:p>
            <a:pPr marL="0" indent="0" algn="ctr">
              <a:buNone/>
              <a:defRPr sz="2200">
                <a:solidFill>
                  <a:srgbClr val="E6F0FF"/>
                </a:solidFill>
              </a:defRPr>
            </a:pPr>
            <a:r>
              <a:rPr lang="es-419" sz="1700" b="1" dirty="0">
                <a:solidFill>
                  <a:srgbClr val="FFFFFF"/>
                </a:solidFill>
              </a:rPr>
              <a:t>Integrantes:</a:t>
            </a:r>
          </a:p>
          <a:p>
            <a:pPr marL="0" indent="0" algn="ctr">
              <a:buNone/>
              <a:defRPr sz="2200">
                <a:solidFill>
                  <a:srgbClr val="E6F0FF"/>
                </a:solidFill>
              </a:defRPr>
            </a:pPr>
            <a:r>
              <a:rPr lang="es-419" sz="1700" b="1" dirty="0">
                <a:solidFill>
                  <a:srgbClr val="FFFFFF"/>
                </a:solidFill>
              </a:rPr>
              <a:t>Keysi Fuentes Piña</a:t>
            </a:r>
          </a:p>
          <a:p>
            <a:pPr marL="0" indent="0" algn="ctr">
              <a:buNone/>
              <a:defRPr sz="2200">
                <a:solidFill>
                  <a:srgbClr val="E6F0FF"/>
                </a:solidFill>
              </a:defRPr>
            </a:pPr>
            <a:r>
              <a:rPr lang="es-419" sz="1700" b="1" dirty="0">
                <a:solidFill>
                  <a:srgbClr val="FFFFFF"/>
                </a:solidFill>
              </a:rPr>
              <a:t>Mavi Andrea Larissa Gracian Camacho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¿Qué es NeoMortgage?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lang="es-MX" dirty="0"/>
              <a:t>Plataforma fintech basada en Machine Learning, análisis hipotecario y modelos de negocio.</a:t>
            </a:r>
            <a:endParaRPr lang="es-419"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 err="1"/>
              <a:t>NeoMortgage</a:t>
            </a:r>
            <a:r>
              <a:rPr dirty="0"/>
              <a:t> es un motor </a:t>
            </a:r>
            <a:r>
              <a:rPr dirty="0" err="1"/>
              <a:t>hipotecario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Evalúa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crediticio</a:t>
            </a:r>
            <a:r>
              <a:rPr dirty="0"/>
              <a:t> con Machine Learning.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Calcula</a:t>
            </a:r>
            <a:r>
              <a:rPr dirty="0"/>
              <a:t> </a:t>
            </a:r>
            <a:r>
              <a:rPr dirty="0" err="1"/>
              <a:t>amortización</a:t>
            </a:r>
            <a:r>
              <a:rPr dirty="0"/>
              <a:t> completa.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Integra variables </a:t>
            </a:r>
            <a:r>
              <a:rPr dirty="0" err="1"/>
              <a:t>macroeconómicas</a:t>
            </a:r>
            <a:r>
              <a:rPr dirty="0"/>
              <a:t> (</a:t>
            </a:r>
            <a:r>
              <a:rPr dirty="0" err="1"/>
              <a:t>Banxico</a:t>
            </a:r>
            <a:r>
              <a:rPr dirty="0"/>
              <a:t>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Evalúa</a:t>
            </a:r>
            <a:r>
              <a:rPr dirty="0"/>
              <a:t> </a:t>
            </a:r>
            <a:r>
              <a:rPr dirty="0" err="1"/>
              <a:t>fondeo</a:t>
            </a:r>
            <a:r>
              <a:rPr dirty="0"/>
              <a:t>, LGD, EL y </a:t>
            </a:r>
            <a:r>
              <a:rPr dirty="0" err="1"/>
              <a:t>utilidad</a:t>
            </a:r>
            <a:r>
              <a:rPr dirty="0"/>
              <a:t> </a:t>
            </a:r>
            <a:r>
              <a:rPr dirty="0" err="1"/>
              <a:t>neta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dinámicas</a:t>
            </a:r>
            <a:r>
              <a:rPr dirty="0"/>
              <a:t> de mora y </a:t>
            </a:r>
            <a:r>
              <a:rPr dirty="0" err="1"/>
              <a:t>prepago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Arquitectura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5" y="1166018"/>
            <a:ext cx="4344196" cy="5417344"/>
          </a:xfrm>
        </p:spPr>
        <p:txBody>
          <a:bodyPr>
            <a:normAutofit fontScale="70000" lnSpcReduction="20000"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1. </a:t>
            </a:r>
            <a:r>
              <a:rPr b="1" dirty="0"/>
              <a:t>Capa de </a:t>
            </a:r>
            <a:r>
              <a:rPr b="1" dirty="0" err="1"/>
              <a:t>datos</a:t>
            </a:r>
            <a:endParaRPr b="1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Datos del </a:t>
            </a:r>
            <a:r>
              <a:rPr dirty="0" err="1"/>
              <a:t>cliente</a:t>
            </a:r>
            <a:r>
              <a:rPr dirty="0"/>
              <a:t> (</a:t>
            </a:r>
            <a:r>
              <a:rPr dirty="0" err="1"/>
              <a:t>ingreso</a:t>
            </a:r>
            <a:r>
              <a:rPr dirty="0"/>
              <a:t>, score, </a:t>
            </a:r>
            <a:r>
              <a:rPr dirty="0" err="1"/>
              <a:t>edad</a:t>
            </a:r>
            <a:r>
              <a:rPr dirty="0"/>
              <a:t>, </a:t>
            </a:r>
            <a:r>
              <a:rPr dirty="0" err="1"/>
              <a:t>atrasos</a:t>
            </a:r>
            <a:r>
              <a:rPr dirty="0"/>
              <a:t>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Datos del </a:t>
            </a:r>
            <a:r>
              <a:rPr dirty="0" err="1"/>
              <a:t>crédito</a:t>
            </a:r>
            <a:r>
              <a:rPr dirty="0"/>
              <a:t> (</a:t>
            </a:r>
            <a:r>
              <a:rPr dirty="0" err="1"/>
              <a:t>monto</a:t>
            </a:r>
            <a:r>
              <a:rPr dirty="0"/>
              <a:t>, </a:t>
            </a:r>
            <a:r>
              <a:rPr dirty="0" err="1"/>
              <a:t>plazo</a:t>
            </a:r>
            <a:r>
              <a:rPr dirty="0"/>
              <a:t>, </a:t>
            </a:r>
            <a:r>
              <a:rPr dirty="0" err="1"/>
              <a:t>tasa</a:t>
            </a:r>
            <a:r>
              <a:rPr dirty="0"/>
              <a:t>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Datos de la </a:t>
            </a:r>
            <a:r>
              <a:rPr dirty="0" err="1"/>
              <a:t>vivienda</a:t>
            </a:r>
            <a:r>
              <a:rPr dirty="0"/>
              <a:t> (valor, zona, </a:t>
            </a:r>
            <a:r>
              <a:rPr dirty="0" err="1"/>
              <a:t>tipo</a:t>
            </a:r>
            <a:r>
              <a:rPr dirty="0"/>
              <a:t>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2. </a:t>
            </a:r>
            <a:r>
              <a:rPr b="1" dirty="0"/>
              <a:t>Modelo de ML: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Logistic Regression </a:t>
            </a:r>
            <a:r>
              <a:rPr dirty="0" err="1"/>
              <a:t>entrenado</a:t>
            </a:r>
            <a:r>
              <a:rPr dirty="0"/>
              <a:t> con 10,000 </a:t>
            </a:r>
            <a:r>
              <a:rPr dirty="0" err="1"/>
              <a:t>simulaciones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</a:t>
            </a:r>
            <a:r>
              <a:rPr dirty="0" err="1"/>
              <a:t>Preprocesamiento</a:t>
            </a:r>
            <a:r>
              <a:rPr dirty="0"/>
              <a:t> con </a:t>
            </a:r>
            <a:r>
              <a:rPr dirty="0" err="1"/>
              <a:t>OneHot</a:t>
            </a:r>
            <a:r>
              <a:rPr dirty="0"/>
              <a:t> + </a:t>
            </a:r>
            <a:r>
              <a:rPr dirty="0" err="1"/>
              <a:t>StandardScaler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Output: PD (</a:t>
            </a:r>
            <a:r>
              <a:rPr dirty="0" err="1"/>
              <a:t>probabilidad</a:t>
            </a:r>
            <a:r>
              <a:rPr dirty="0"/>
              <a:t> de default).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3. </a:t>
            </a:r>
            <a:r>
              <a:rPr b="1" dirty="0"/>
              <a:t>Capa </a:t>
            </a:r>
            <a:r>
              <a:rPr b="1" dirty="0" err="1"/>
              <a:t>financiera</a:t>
            </a:r>
            <a:r>
              <a:rPr b="1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PTI, LTV, </a:t>
            </a:r>
            <a:r>
              <a:rPr dirty="0" err="1"/>
              <a:t>relación</a:t>
            </a:r>
            <a:r>
              <a:rPr dirty="0"/>
              <a:t> </a:t>
            </a:r>
            <a:r>
              <a:rPr dirty="0" err="1"/>
              <a:t>deuda</a:t>
            </a:r>
            <a:r>
              <a:rPr dirty="0"/>
              <a:t>/</a:t>
            </a:r>
            <a:r>
              <a:rPr dirty="0" err="1"/>
              <a:t>ingreso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Tasa </a:t>
            </a:r>
            <a:r>
              <a:rPr dirty="0" err="1"/>
              <a:t>mínima</a:t>
            </a:r>
            <a:r>
              <a:rPr dirty="0"/>
              <a:t> rentable, </a:t>
            </a:r>
            <a:r>
              <a:rPr dirty="0" err="1"/>
              <a:t>costo</a:t>
            </a:r>
            <a:r>
              <a:rPr dirty="0"/>
              <a:t> de </a:t>
            </a:r>
            <a:r>
              <a:rPr dirty="0" err="1"/>
              <a:t>fondeo</a:t>
            </a:r>
            <a:r>
              <a:rPr dirty="0"/>
              <a:t>, EL.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4. </a:t>
            </a:r>
            <a:r>
              <a:rPr b="1" dirty="0"/>
              <a:t>Motor de </a:t>
            </a:r>
            <a:r>
              <a:rPr b="1" dirty="0" err="1"/>
              <a:t>decisión</a:t>
            </a:r>
            <a:r>
              <a:rPr b="1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</a:t>
            </a:r>
            <a:r>
              <a:rPr dirty="0" err="1"/>
              <a:t>Aprobación</a:t>
            </a:r>
            <a:r>
              <a:rPr dirty="0"/>
              <a:t> / </a:t>
            </a:r>
            <a:r>
              <a:rPr dirty="0" err="1"/>
              <a:t>rechazo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   - </a:t>
            </a:r>
            <a:r>
              <a:rPr dirty="0" err="1"/>
              <a:t>Margen</a:t>
            </a:r>
            <a:r>
              <a:rPr dirty="0"/>
              <a:t> y </a:t>
            </a:r>
            <a:r>
              <a:rPr dirty="0" err="1"/>
              <a:t>utilidad</a:t>
            </a:r>
            <a:r>
              <a:rPr dirty="0"/>
              <a:t> </a:t>
            </a:r>
            <a:r>
              <a:rPr dirty="0" err="1"/>
              <a:t>neta</a:t>
            </a:r>
            <a:r>
              <a:rPr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51B73-4DF8-54E5-559D-8041CB5E7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70" y="2102923"/>
            <a:ext cx="4183626" cy="2652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de Machine Learning</a:t>
            </a:r>
            <a:r>
              <a:rPr lang="es-419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2" y="1324897"/>
            <a:ext cx="7972082" cy="51565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1. Entrada de variables:</a:t>
            </a:r>
            <a:endParaRPr lang="es-MX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lang="es-MX" dirty="0"/>
              <a:t>Se toman 14 variables relevantes.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2. </a:t>
            </a:r>
            <a:r>
              <a:rPr dirty="0" err="1"/>
              <a:t>Preprocesamiento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Variables </a:t>
            </a:r>
            <a:r>
              <a:rPr dirty="0" err="1"/>
              <a:t>numéricas</a:t>
            </a:r>
            <a:r>
              <a:rPr dirty="0"/>
              <a:t> → </a:t>
            </a:r>
            <a:r>
              <a:rPr dirty="0" err="1"/>
              <a:t>escaladas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Variables </a:t>
            </a:r>
            <a:r>
              <a:rPr dirty="0" err="1"/>
              <a:t>categóricas</a:t>
            </a:r>
            <a:r>
              <a:rPr dirty="0"/>
              <a:t> → </a:t>
            </a:r>
            <a:r>
              <a:rPr dirty="0" err="1"/>
              <a:t>OneHotEncoding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3. </a:t>
            </a:r>
            <a:r>
              <a:rPr dirty="0" err="1"/>
              <a:t>Entrenamiento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Logistic Regression </a:t>
            </a:r>
            <a:r>
              <a:rPr dirty="0" err="1"/>
              <a:t>ajusta</a:t>
            </a:r>
            <a:r>
              <a:rPr dirty="0"/>
              <a:t> </a:t>
            </a:r>
            <a:r>
              <a:rPr dirty="0" err="1"/>
              <a:t>probabilidades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Aprendizaje</a:t>
            </a:r>
            <a:r>
              <a:rPr dirty="0"/>
              <a:t> </a:t>
            </a:r>
            <a:r>
              <a:rPr dirty="0" err="1"/>
              <a:t>supervisado</a:t>
            </a:r>
            <a:r>
              <a:rPr dirty="0"/>
              <a:t> con variable 'default'.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4. Salida: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PD entre 0 y 1.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Z-score (</a:t>
            </a:r>
            <a:r>
              <a:rPr dirty="0" err="1"/>
              <a:t>distancia</a:t>
            </a:r>
            <a:r>
              <a:rPr dirty="0"/>
              <a:t> </a:t>
            </a:r>
            <a:r>
              <a:rPr dirty="0" err="1"/>
              <a:t>respecto</a:t>
            </a:r>
            <a:r>
              <a:rPr dirty="0"/>
              <a:t> a la </a:t>
            </a:r>
            <a:r>
              <a:rPr dirty="0" err="1"/>
              <a:t>cartera</a:t>
            </a:r>
            <a:r>
              <a:rPr dirty="0"/>
              <a:t>).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Banda de </a:t>
            </a:r>
            <a:r>
              <a:rPr dirty="0" err="1"/>
              <a:t>riesgo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Insumo</a:t>
            </a:r>
            <a:r>
              <a:rPr dirty="0"/>
              <a:t> para </a:t>
            </a:r>
            <a:r>
              <a:rPr dirty="0" err="1"/>
              <a:t>tasa</a:t>
            </a:r>
            <a:r>
              <a:rPr dirty="0"/>
              <a:t>, </a:t>
            </a:r>
            <a:r>
              <a:rPr dirty="0" err="1"/>
              <a:t>fondeo</a:t>
            </a:r>
            <a:r>
              <a:rPr dirty="0"/>
              <a:t> y </a:t>
            </a:r>
            <a:r>
              <a:rPr dirty="0" err="1"/>
              <a:t>decisión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Variables usadas por 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4114800" cy="49024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Variables del </a:t>
            </a:r>
            <a:r>
              <a:rPr dirty="0" err="1"/>
              <a:t>cliente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Ingreso</a:t>
            </a:r>
            <a:r>
              <a:rPr dirty="0"/>
              <a:t> </a:t>
            </a:r>
            <a:r>
              <a:rPr dirty="0" err="1"/>
              <a:t>mensual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Edad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Score </a:t>
            </a:r>
            <a:r>
              <a:rPr dirty="0" err="1"/>
              <a:t>interno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Deudas</a:t>
            </a:r>
            <a:r>
              <a:rPr dirty="0"/>
              <a:t> </a:t>
            </a:r>
            <a:r>
              <a:rPr dirty="0" err="1"/>
              <a:t>mensuales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Atrasos</a:t>
            </a:r>
            <a:r>
              <a:rPr dirty="0"/>
              <a:t> 12 meses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Antigüedad</a:t>
            </a:r>
            <a:r>
              <a:rPr dirty="0"/>
              <a:t> </a:t>
            </a:r>
            <a:r>
              <a:rPr dirty="0" err="1"/>
              <a:t>laboral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Variables del </a:t>
            </a:r>
            <a:r>
              <a:rPr dirty="0" err="1"/>
              <a:t>crédito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Monto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Plazo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Tasa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PTI (</a:t>
            </a:r>
            <a:r>
              <a:rPr dirty="0" err="1"/>
              <a:t>pago</a:t>
            </a:r>
            <a:r>
              <a:rPr dirty="0"/>
              <a:t>/</a:t>
            </a:r>
            <a:r>
              <a:rPr dirty="0" err="1"/>
              <a:t>ingreso</a:t>
            </a:r>
            <a:r>
              <a:rPr dirty="0"/>
              <a:t>)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LTV (</a:t>
            </a:r>
            <a:r>
              <a:rPr dirty="0" err="1"/>
              <a:t>crédito</a:t>
            </a:r>
            <a:r>
              <a:rPr dirty="0"/>
              <a:t>/valor casa)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Variables de </a:t>
            </a:r>
            <a:r>
              <a:rPr dirty="0" err="1"/>
              <a:t>vivienda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Tipo (</a:t>
            </a:r>
            <a:r>
              <a:rPr dirty="0" err="1"/>
              <a:t>interés</a:t>
            </a:r>
            <a:r>
              <a:rPr dirty="0"/>
              <a:t> social/media/</a:t>
            </a:r>
            <a:r>
              <a:rPr dirty="0" err="1"/>
              <a:t>residencial</a:t>
            </a:r>
            <a:r>
              <a:rPr dirty="0"/>
              <a:t>/</a:t>
            </a:r>
            <a:r>
              <a:rPr dirty="0" err="1"/>
              <a:t>lujo</a:t>
            </a:r>
            <a:r>
              <a:rPr dirty="0"/>
              <a:t>)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Riesgo zona (bajo/medio/alto)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2117CF-708C-82F8-AC8B-7F53D7E4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76" y="1811734"/>
            <a:ext cx="4314482" cy="3234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Cálculo de PD: Probabilidad de Incumplimiento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94991"/>
                <a:ext cx="4463917" cy="4525963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La </a:t>
                </a:r>
                <a:r>
                  <a:rPr dirty="0" err="1"/>
                  <a:t>fórmula</a:t>
                </a:r>
                <a:r>
                  <a:rPr dirty="0"/>
                  <a:t> </a:t>
                </a:r>
                <a:r>
                  <a:rPr dirty="0" err="1"/>
                  <a:t>logística</a:t>
                </a:r>
                <a:r>
                  <a:rPr dirty="0"/>
                  <a:t> genera PD: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endParaRPr dirty="0"/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𝑃𝐷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lit/>
                      </m:rPr>
                      <a:rPr lang="es-MX" i="1" dirty="0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MX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s-MX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0+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i="1" dirty="0" smtClean="0">
                                        <a:latin typeface="Cambria Math" panose="02040503050406030204" pitchFamily="18" charset="0"/>
                                      </a:rPr>
                                      <m:t>2+…</m:t>
                                    </m:r>
                                  </m:e>
                                </m:d>
                              </m:e>
                            </m:d>
                          </m:sup>
                        </m:sSup>
                      </m:e>
                    </m:d>
                  </m:oMath>
                </a14:m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endParaRPr dirty="0"/>
              </a:p>
              <a:p>
                <a:pPr marL="0" indent="0">
                  <a:buNone/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Donde: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Cada β </a:t>
                </a:r>
                <a:r>
                  <a:rPr dirty="0" err="1"/>
                  <a:t>corresponde</a:t>
                </a:r>
                <a:r>
                  <a:rPr dirty="0"/>
                  <a:t> al peso del </a:t>
                </a:r>
                <a:r>
                  <a:rPr dirty="0" err="1"/>
                  <a:t>riesgo</a:t>
                </a:r>
                <a:r>
                  <a:rPr dirty="0"/>
                  <a:t>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x son las variables (</a:t>
                </a:r>
                <a:r>
                  <a:rPr dirty="0" err="1"/>
                  <a:t>ingreso</a:t>
                </a:r>
                <a:r>
                  <a:rPr dirty="0"/>
                  <a:t>, </a:t>
                </a:r>
                <a:r>
                  <a:rPr dirty="0" err="1"/>
                  <a:t>tasa</a:t>
                </a:r>
                <a:r>
                  <a:rPr dirty="0"/>
                  <a:t>, LTV, etc.).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endParaRPr dirty="0"/>
              </a:p>
              <a:p>
                <a:pPr marL="0" indent="0">
                  <a:buNone/>
                  <a:defRPr sz="2200">
                    <a:solidFill>
                      <a:srgbClr val="E6F0FF"/>
                    </a:solidFill>
                  </a:defRPr>
                </a:pPr>
                <a:r>
                  <a:rPr dirty="0" err="1"/>
                  <a:t>Interpretación</a:t>
                </a:r>
                <a:r>
                  <a:rPr dirty="0"/>
                  <a:t>: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PD &lt; 5%     → Riesgo </a:t>
                </a:r>
                <a:r>
                  <a:rPr dirty="0" err="1"/>
                  <a:t>muy</a:t>
                </a:r>
                <a:r>
                  <a:rPr dirty="0"/>
                  <a:t> bajo.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5–10%       → Riesgo bajo.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10–20%      → Riesgo medio.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20–35%      → Riesgo alto.</a:t>
                </a:r>
              </a:p>
              <a:p>
                <a:pPr>
                  <a:defRPr sz="2200">
                    <a:solidFill>
                      <a:srgbClr val="E6F0FF"/>
                    </a:solidFill>
                  </a:defRPr>
                </a:pPr>
                <a:r>
                  <a:rPr dirty="0"/>
                  <a:t>&gt; 35%       → Riesgo </a:t>
                </a:r>
                <a:r>
                  <a:rPr dirty="0" err="1"/>
                  <a:t>muy</a:t>
                </a:r>
                <a:r>
                  <a:rPr dirty="0"/>
                  <a:t> alto.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94991"/>
                <a:ext cx="4463917" cy="4525963"/>
              </a:xfrm>
              <a:blipFill>
                <a:blip r:embed="rId2"/>
                <a:stretch>
                  <a:fillRect l="-1420" t="-1676" b="-83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BECBD18F-B2AE-3005-4657-34B4062EF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117" y="1920952"/>
            <a:ext cx="3765683" cy="3674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Cálculo de PTI y LTV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70494" cy="4525963"/>
          </a:xfrm>
        </p:spPr>
        <p:txBody>
          <a:bodyPr/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PTI (Payment-to-Income):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PTI = (</a:t>
            </a:r>
            <a:r>
              <a:rPr dirty="0" err="1"/>
              <a:t>pago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+ </a:t>
            </a:r>
            <a:r>
              <a:rPr dirty="0" err="1"/>
              <a:t>deudas</a:t>
            </a:r>
            <a:r>
              <a:rPr dirty="0"/>
              <a:t>) / </a:t>
            </a:r>
            <a:r>
              <a:rPr dirty="0" err="1"/>
              <a:t>ingreso</a:t>
            </a:r>
            <a:r>
              <a:rPr dirty="0"/>
              <a:t> </a:t>
            </a:r>
            <a:r>
              <a:rPr dirty="0" err="1"/>
              <a:t>mensual</a:t>
            </a: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PTI alto = mayor 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impago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LTV (Loan-to-Value):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LTV = </a:t>
            </a:r>
            <a:r>
              <a:rPr dirty="0" err="1"/>
              <a:t>monto</a:t>
            </a:r>
            <a:r>
              <a:rPr dirty="0"/>
              <a:t> </a:t>
            </a:r>
            <a:r>
              <a:rPr dirty="0" err="1"/>
              <a:t>crédito</a:t>
            </a:r>
            <a:r>
              <a:rPr dirty="0"/>
              <a:t> / valor </a:t>
            </a:r>
            <a:r>
              <a:rPr dirty="0" err="1"/>
              <a:t>vivienda</a:t>
            </a: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Valores &gt; 0.80 </a:t>
            </a:r>
            <a:r>
              <a:rPr dirty="0" err="1"/>
              <a:t>aumentan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</a:t>
            </a:r>
            <a:r>
              <a:rPr dirty="0" err="1"/>
              <a:t>Aumenta</a:t>
            </a:r>
            <a:r>
              <a:rPr dirty="0"/>
              <a:t> LGD y </a:t>
            </a:r>
            <a:r>
              <a:rPr dirty="0" err="1"/>
              <a:t>afecta</a:t>
            </a:r>
            <a:r>
              <a:rPr dirty="0"/>
              <a:t> EL.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E3A389-0A7F-39F7-5C69-074C38284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906" y="4514328"/>
            <a:ext cx="4598894" cy="1956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Integración macroeconómica (Banxico)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58823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1800" dirty="0"/>
              <a:t>La </a:t>
            </a:r>
            <a:r>
              <a:rPr sz="1800" dirty="0" err="1"/>
              <a:t>tasa</a:t>
            </a:r>
            <a:r>
              <a:rPr sz="1800" dirty="0"/>
              <a:t> de </a:t>
            </a:r>
            <a:r>
              <a:rPr sz="1800" dirty="0" err="1"/>
              <a:t>referencia</a:t>
            </a:r>
            <a:r>
              <a:rPr sz="1800" dirty="0"/>
              <a:t> </a:t>
            </a:r>
            <a:r>
              <a:rPr sz="1800" dirty="0" err="1"/>
              <a:t>impacta</a:t>
            </a:r>
            <a:r>
              <a:rPr sz="1800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1800"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1800" dirty="0"/>
              <a:t>1. Costo de </a:t>
            </a:r>
            <a:r>
              <a:rPr sz="1800" dirty="0" err="1"/>
              <a:t>fondeo</a:t>
            </a:r>
            <a:r>
              <a:rPr sz="1800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800" dirty="0"/>
              <a:t>   </a:t>
            </a:r>
            <a:r>
              <a:rPr sz="1800" dirty="0" err="1"/>
              <a:t>fondeo</a:t>
            </a:r>
            <a:r>
              <a:rPr sz="1800" dirty="0"/>
              <a:t> = </a:t>
            </a:r>
            <a:r>
              <a:rPr sz="1800" dirty="0" err="1"/>
              <a:t>tasa_Banxico</a:t>
            </a:r>
            <a:r>
              <a:rPr sz="1800" dirty="0"/>
              <a:t> + spread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1800"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1800" dirty="0"/>
              <a:t>2. Tasa </a:t>
            </a:r>
            <a:r>
              <a:rPr sz="1800" dirty="0" err="1"/>
              <a:t>mínima</a:t>
            </a:r>
            <a:r>
              <a:rPr sz="1800" dirty="0"/>
              <a:t> rentable: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800" dirty="0"/>
              <a:t>   </a:t>
            </a:r>
            <a:r>
              <a:rPr sz="1800" dirty="0" err="1"/>
              <a:t>mínima</a:t>
            </a:r>
            <a:r>
              <a:rPr sz="1800" dirty="0"/>
              <a:t> = </a:t>
            </a:r>
            <a:r>
              <a:rPr sz="1800" dirty="0" err="1"/>
              <a:t>fondeo</a:t>
            </a:r>
            <a:r>
              <a:rPr sz="1800" dirty="0"/>
              <a:t> + EL + </a:t>
            </a:r>
            <a:r>
              <a:rPr sz="1800" dirty="0" err="1"/>
              <a:t>margen</a:t>
            </a:r>
            <a:r>
              <a:rPr sz="1800" dirty="0"/>
              <a:t> </a:t>
            </a:r>
            <a:r>
              <a:rPr sz="1800" dirty="0" err="1"/>
              <a:t>objetivo</a:t>
            </a:r>
            <a:endParaRPr sz="1800" dirty="0"/>
          </a:p>
          <a:p>
            <a:pPr>
              <a:defRPr sz="2200">
                <a:solidFill>
                  <a:srgbClr val="E6F0FF"/>
                </a:solidFill>
              </a:defRPr>
            </a:pPr>
            <a:endParaRPr sz="1800"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1800" dirty="0"/>
              <a:t>3. Riesgo general del mercado: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800" dirty="0"/>
              <a:t>   </a:t>
            </a:r>
            <a:r>
              <a:rPr sz="1800" dirty="0" err="1"/>
              <a:t>Entorno</a:t>
            </a:r>
            <a:r>
              <a:rPr sz="1800" dirty="0"/>
              <a:t> </a:t>
            </a:r>
            <a:r>
              <a:rPr sz="1800" dirty="0" err="1"/>
              <a:t>restrictivo</a:t>
            </a:r>
            <a:r>
              <a:rPr sz="1800" dirty="0"/>
              <a:t> = mayor mora.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2CB05E-6933-CF8B-A7D2-2061722C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023" y="1600199"/>
            <a:ext cx="3870777" cy="4525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Pérdida esperada (EL)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620005" cy="4525963"/>
          </a:xfrm>
        </p:spPr>
        <p:txBody>
          <a:bodyPr/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EL = PD × LGD × EAD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 err="1"/>
              <a:t>Componentes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PD: </a:t>
            </a:r>
            <a:r>
              <a:rPr dirty="0" err="1"/>
              <a:t>probabilidad</a:t>
            </a:r>
            <a:r>
              <a:rPr dirty="0"/>
              <a:t> de default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LGD: </a:t>
            </a:r>
            <a:r>
              <a:rPr dirty="0" err="1"/>
              <a:t>pérdida</a:t>
            </a:r>
            <a:r>
              <a:rPr dirty="0"/>
              <a:t> dada </a:t>
            </a:r>
            <a:r>
              <a:rPr dirty="0" err="1"/>
              <a:t>incumplimiento</a:t>
            </a:r>
            <a:r>
              <a:rPr dirty="0"/>
              <a:t> (</a:t>
            </a:r>
            <a:r>
              <a:rPr dirty="0" err="1"/>
              <a:t>según</a:t>
            </a:r>
            <a:r>
              <a:rPr dirty="0"/>
              <a:t> LTV)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EAD: </a:t>
            </a:r>
            <a:r>
              <a:rPr dirty="0" err="1"/>
              <a:t>exposición</a:t>
            </a:r>
            <a:r>
              <a:rPr dirty="0"/>
              <a:t> (</a:t>
            </a:r>
            <a:r>
              <a:rPr dirty="0" err="1"/>
              <a:t>monto</a:t>
            </a:r>
            <a:r>
              <a:rPr dirty="0"/>
              <a:t> del </a:t>
            </a:r>
            <a:r>
              <a:rPr dirty="0" err="1"/>
              <a:t>crédito</a:t>
            </a:r>
            <a:r>
              <a:rPr dirty="0"/>
              <a:t>)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 err="1"/>
              <a:t>Ejemplo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PD = 8%, LTV = 85%, LGD = 35%, EAD = 1,000,000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EL = 0.08 × 0.35 × 1,000,000 = 28,000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Motor de decisión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40685" cy="4525963"/>
          </a:xfrm>
        </p:spPr>
        <p:txBody>
          <a:bodyPr/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b="1" dirty="0"/>
              <a:t>El motor </a:t>
            </a:r>
            <a:r>
              <a:rPr b="1" dirty="0" err="1"/>
              <a:t>combina</a:t>
            </a:r>
            <a:r>
              <a:rPr b="1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PD del </a:t>
            </a:r>
            <a:r>
              <a:rPr dirty="0" err="1"/>
              <a:t>modelo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PTI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LTV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Tasa </a:t>
            </a:r>
            <a:r>
              <a:rPr dirty="0" err="1"/>
              <a:t>mínima</a:t>
            </a:r>
            <a:r>
              <a:rPr dirty="0"/>
              <a:t> rentable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Utilidad</a:t>
            </a:r>
            <a:r>
              <a:rPr dirty="0"/>
              <a:t> </a:t>
            </a:r>
            <a:r>
              <a:rPr dirty="0" err="1"/>
              <a:t>neta</a:t>
            </a:r>
            <a:r>
              <a:rPr dirty="0"/>
              <a:t> </a:t>
            </a:r>
            <a:r>
              <a:rPr dirty="0" err="1"/>
              <a:t>ajustada</a:t>
            </a: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b="1" dirty="0" err="1"/>
              <a:t>Decisión</a:t>
            </a:r>
            <a:r>
              <a:rPr b="1" dirty="0"/>
              <a:t> final: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APROBAR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cumple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RECHAZAR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 &gt; </a:t>
            </a:r>
            <a:r>
              <a:rPr dirty="0" err="1"/>
              <a:t>rentabilidad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Política de mora y pronto pago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02482" cy="4504765"/>
          </a:xfrm>
        </p:spPr>
        <p:txBody>
          <a:bodyPr>
            <a:norm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 err="1"/>
              <a:t>Simulación</a:t>
            </a:r>
            <a:r>
              <a:rPr sz="1600" dirty="0"/>
              <a:t> del </a:t>
            </a:r>
            <a:r>
              <a:rPr sz="1600" dirty="0" err="1"/>
              <a:t>comportamiento</a:t>
            </a:r>
            <a:r>
              <a:rPr sz="1600" dirty="0"/>
              <a:t> real: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16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/>
              <a:t>Mora: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Penalización</a:t>
            </a:r>
            <a:r>
              <a:rPr sz="1600" dirty="0"/>
              <a:t> +3 pp.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Aumenta</a:t>
            </a:r>
            <a:r>
              <a:rPr sz="1600" dirty="0"/>
              <a:t> </a:t>
            </a:r>
            <a:r>
              <a:rPr sz="1600" dirty="0" err="1"/>
              <a:t>ingresos</a:t>
            </a:r>
            <a:r>
              <a:rPr sz="1600" dirty="0"/>
              <a:t> de </a:t>
            </a:r>
            <a:r>
              <a:rPr sz="1600" dirty="0" err="1"/>
              <a:t>recuperación</a:t>
            </a:r>
            <a:r>
              <a:rPr sz="1600"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16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 err="1"/>
              <a:t>Prepago</a:t>
            </a:r>
            <a:r>
              <a:rPr sz="1600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Descuento</a:t>
            </a:r>
            <a:r>
              <a:rPr sz="1600" dirty="0"/>
              <a:t> –1 pp.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/>
              <a:t>• Reduce </a:t>
            </a:r>
            <a:r>
              <a:rPr sz="1600" dirty="0" err="1"/>
              <a:t>intereses</a:t>
            </a:r>
            <a:r>
              <a:rPr sz="1600" dirty="0"/>
              <a:t> </a:t>
            </a:r>
            <a:r>
              <a:rPr sz="1600" dirty="0" err="1"/>
              <a:t>cobrados</a:t>
            </a:r>
            <a:r>
              <a:rPr sz="1600" dirty="0"/>
              <a:t>.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16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1600" dirty="0" err="1"/>
              <a:t>Probabilidades</a:t>
            </a:r>
            <a:r>
              <a:rPr sz="1600" dirty="0"/>
              <a:t> </a:t>
            </a:r>
            <a:r>
              <a:rPr sz="1600" dirty="0" err="1"/>
              <a:t>dependen</a:t>
            </a:r>
            <a:r>
              <a:rPr sz="1600" dirty="0"/>
              <a:t> de PD.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C6A678-82D4-7807-16DA-7D5729B8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82" y="2139556"/>
            <a:ext cx="3901946" cy="29460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Amortización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00608" cy="4525963"/>
          </a:xfrm>
        </p:spPr>
        <p:txBody>
          <a:bodyPr>
            <a:normAutofit/>
          </a:bodyPr>
          <a:lstStyle/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2000" dirty="0"/>
              <a:t>Generación </a:t>
            </a:r>
            <a:r>
              <a:rPr sz="2000" dirty="0" err="1"/>
              <a:t>automática</a:t>
            </a:r>
            <a:r>
              <a:rPr sz="2000"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endParaRPr sz="20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2000" dirty="0"/>
              <a:t>Saldo </a:t>
            </a:r>
            <a:r>
              <a:rPr sz="2000" dirty="0" err="1"/>
              <a:t>inicial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año</a:t>
            </a:r>
            <a:endParaRPr sz="20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2000" dirty="0" err="1"/>
              <a:t>Intereses</a:t>
            </a:r>
            <a:r>
              <a:rPr sz="2000" dirty="0"/>
              <a:t> </a:t>
            </a:r>
            <a:r>
              <a:rPr sz="2000" dirty="0" err="1"/>
              <a:t>anuales</a:t>
            </a:r>
            <a:endParaRPr sz="20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2000" dirty="0"/>
              <a:t>Capital </a:t>
            </a:r>
            <a:r>
              <a:rPr sz="2000" dirty="0" err="1"/>
              <a:t>pagado</a:t>
            </a:r>
            <a:endParaRPr sz="2000"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2000" dirty="0"/>
              <a:t>Saldo final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sz="2000" dirty="0"/>
              <a:t>Pagos </a:t>
            </a:r>
            <a:r>
              <a:rPr sz="2000" dirty="0" err="1"/>
              <a:t>totales</a:t>
            </a:r>
            <a:endParaRPr sz="2000" dirty="0"/>
          </a:p>
          <a:p>
            <a:pPr>
              <a:defRPr sz="2200">
                <a:solidFill>
                  <a:srgbClr val="E6F0FF"/>
                </a:solidFill>
              </a:defRPr>
            </a:pPr>
            <a:endParaRPr sz="2000"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analizar</a:t>
            </a:r>
            <a:r>
              <a:rPr sz="2000" dirty="0"/>
              <a:t> </a:t>
            </a:r>
            <a:r>
              <a:rPr sz="2000" dirty="0" err="1"/>
              <a:t>costo</a:t>
            </a:r>
            <a:r>
              <a:rPr sz="2000" dirty="0"/>
              <a:t> total del </a:t>
            </a:r>
            <a:r>
              <a:rPr sz="2000" dirty="0" err="1"/>
              <a:t>crédito</a:t>
            </a:r>
            <a:r>
              <a:rPr sz="2000" dirty="0"/>
              <a:t>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2C0939E-DABE-E7D8-A582-113BA112D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323452"/>
              </p:ext>
            </p:extLst>
          </p:nvPr>
        </p:nvGraphicFramePr>
        <p:xfrm>
          <a:off x="3757808" y="1417638"/>
          <a:ext cx="4928994" cy="4432018"/>
        </p:xfrm>
        <a:graphic>
          <a:graphicData uri="http://schemas.openxmlformats.org/drawingml/2006/table">
            <a:tbl>
              <a:tblPr/>
              <a:tblGrid>
                <a:gridCol w="821499">
                  <a:extLst>
                    <a:ext uri="{9D8B030D-6E8A-4147-A177-3AD203B41FA5}">
                      <a16:colId xmlns:a16="http://schemas.microsoft.com/office/drawing/2014/main" val="2460569422"/>
                    </a:ext>
                  </a:extLst>
                </a:gridCol>
                <a:gridCol w="821499">
                  <a:extLst>
                    <a:ext uri="{9D8B030D-6E8A-4147-A177-3AD203B41FA5}">
                      <a16:colId xmlns:a16="http://schemas.microsoft.com/office/drawing/2014/main" val="289807556"/>
                    </a:ext>
                  </a:extLst>
                </a:gridCol>
                <a:gridCol w="821499">
                  <a:extLst>
                    <a:ext uri="{9D8B030D-6E8A-4147-A177-3AD203B41FA5}">
                      <a16:colId xmlns:a16="http://schemas.microsoft.com/office/drawing/2014/main" val="2362989991"/>
                    </a:ext>
                  </a:extLst>
                </a:gridCol>
                <a:gridCol w="821499">
                  <a:extLst>
                    <a:ext uri="{9D8B030D-6E8A-4147-A177-3AD203B41FA5}">
                      <a16:colId xmlns:a16="http://schemas.microsoft.com/office/drawing/2014/main" val="1890651931"/>
                    </a:ext>
                  </a:extLst>
                </a:gridCol>
                <a:gridCol w="821499">
                  <a:extLst>
                    <a:ext uri="{9D8B030D-6E8A-4147-A177-3AD203B41FA5}">
                      <a16:colId xmlns:a16="http://schemas.microsoft.com/office/drawing/2014/main" val="1779000604"/>
                    </a:ext>
                  </a:extLst>
                </a:gridCol>
                <a:gridCol w="821499">
                  <a:extLst>
                    <a:ext uri="{9D8B030D-6E8A-4147-A177-3AD203B41FA5}">
                      <a16:colId xmlns:a16="http://schemas.microsoft.com/office/drawing/2014/main" val="3823074843"/>
                    </a:ext>
                  </a:extLst>
                </a:gridCol>
              </a:tblGrid>
              <a:tr h="615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Año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Saldo inicial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Capital pagado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Intereses pagados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Pago total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Saldo final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39944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$500000.0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$19682.58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$88428.54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$480317.42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912488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$480317.42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$23532.85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$84578.27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$456784.57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898867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$456784.57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$28136.3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$79974.82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$428648.27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37052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4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$428648.27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$33640.27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$74470.85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$395008.0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73547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$395008.0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>
                          <a:solidFill>
                            <a:srgbClr val="FFFFFF"/>
                          </a:solidFill>
                          <a:effectLst/>
                        </a:rPr>
                        <a:t>$40220.92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$67890.2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$354787.08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214947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6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$354787.08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$48088.86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$60022.26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$306698.22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290759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$306698.22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$57495.92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$50615.2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$249202.3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14496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8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$249202.3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$68743.17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$39367.95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$180459.13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744309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9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$180459.13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$82190.58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$25920.54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$98268.55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77968"/>
                  </a:ext>
                </a:extLst>
              </a:tr>
              <a:tr h="38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10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$98268.55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$98268.55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$9842.57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>
                          <a:solidFill>
                            <a:srgbClr val="FFFFFF"/>
                          </a:solidFill>
                          <a:effectLst/>
                        </a:rPr>
                        <a:t>$108111.12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dirty="0">
                          <a:solidFill>
                            <a:srgbClr val="FFFFFF"/>
                          </a:solidFill>
                          <a:effectLst/>
                        </a:rPr>
                        <a:t>$0.0</a:t>
                      </a:r>
                    </a:p>
                  </a:txBody>
                  <a:tcPr marL="54530" marR="54530" marT="27265" marB="27265" anchor="ctr">
                    <a:lnL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7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0982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Utilidad neta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Utilidad</a:t>
            </a:r>
            <a:r>
              <a:rPr dirty="0"/>
              <a:t> = </a:t>
            </a:r>
            <a:r>
              <a:rPr dirty="0" err="1"/>
              <a:t>intereses</a:t>
            </a:r>
            <a:r>
              <a:rPr dirty="0"/>
              <a:t> </a:t>
            </a:r>
            <a:r>
              <a:rPr dirty="0" err="1"/>
              <a:t>cobrados</a:t>
            </a:r>
            <a:r>
              <a:rPr dirty="0"/>
              <a:t> – </a:t>
            </a:r>
            <a:r>
              <a:rPr dirty="0" err="1"/>
              <a:t>fondeo</a:t>
            </a:r>
            <a:r>
              <a:rPr dirty="0"/>
              <a:t> – EL + mora – </a:t>
            </a:r>
            <a:r>
              <a:rPr dirty="0" err="1"/>
              <a:t>prepago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Se </a:t>
            </a:r>
            <a:r>
              <a:rPr dirty="0" err="1"/>
              <a:t>calcula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Intereses</a:t>
            </a:r>
            <a:r>
              <a:rPr dirty="0"/>
              <a:t> </a:t>
            </a:r>
            <a:r>
              <a:rPr dirty="0" err="1"/>
              <a:t>brutos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Intereses</a:t>
            </a:r>
            <a:r>
              <a:rPr dirty="0"/>
              <a:t> </a:t>
            </a:r>
            <a:r>
              <a:rPr dirty="0" err="1"/>
              <a:t>fondeo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Pérdida</a:t>
            </a:r>
            <a:r>
              <a:rPr dirty="0"/>
              <a:t> </a:t>
            </a:r>
            <a:r>
              <a:rPr dirty="0" err="1"/>
              <a:t>esperada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mora/</a:t>
            </a:r>
            <a:r>
              <a:rPr dirty="0" err="1"/>
              <a:t>prepago</a:t>
            </a:r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Margen</a:t>
            </a:r>
            <a:r>
              <a:rPr dirty="0"/>
              <a:t> total (%)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2E7B03-99D4-6FF4-20A2-B361CBF4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141" y="2377701"/>
            <a:ext cx="4437156" cy="37484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FFFF"/>
                </a:solidFill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MX" sz="2400" dirty="0">
                <a:solidFill>
                  <a:schemeClr val="bg1"/>
                </a:solidFill>
              </a:rPr>
              <a:t>En resumen, el motor hipotecario desarrollado demuestra que es posible evaluar de forma integrada el riesgo, la rentabilidad y el contexto macroeconómico de un crédito. El modelo permite identificar de manera rápida si un crédito es viable, rentable o riesgoso, combinando métricas como PD, LTV, PTI, fondeo y pérdida esperada.</a:t>
            </a:r>
          </a:p>
          <a:p>
            <a:pPr algn="just"/>
            <a:r>
              <a:rPr lang="es-MX" sz="2400" dirty="0">
                <a:solidFill>
                  <a:schemeClr val="bg1"/>
                </a:solidFill>
              </a:rPr>
              <a:t>A diferencia de herramientas tradicionales, este proyecto aporta una visión completa que puede ser valiosa para fintechs, sofipos o instituciones que buscan decisiones más objetivas y automatizadas. En conjunto, el trabajo ofrece una base sólida para convertir esta propuesta en un producto financiero real y escalable.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963</Words>
  <Application>Microsoft Macintosh PowerPoint</Application>
  <PresentationFormat>Presentación en pantalla (4:3)</PresentationFormat>
  <Paragraphs>225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NEOMORTGAGE</vt:lpstr>
      <vt:lpstr>¿Qué es NeoMortgage?</vt:lpstr>
      <vt:lpstr>Arquitectura del modelo</vt:lpstr>
      <vt:lpstr>Cómo funciona el modelo de Machine Learning?</vt:lpstr>
      <vt:lpstr>Variables usadas por el modelo</vt:lpstr>
      <vt:lpstr>Cálculo de PD: Probabilidad de Incumplimiento</vt:lpstr>
      <vt:lpstr>Cálculo de PTI y LTV</vt:lpstr>
      <vt:lpstr>Integración macroeconómica (Banxico)</vt:lpstr>
      <vt:lpstr>Pérdida esperada (EL)</vt:lpstr>
      <vt:lpstr>Motor de decisión</vt:lpstr>
      <vt:lpstr>Política de mora y pronto pago</vt:lpstr>
      <vt:lpstr>Amortización</vt:lpstr>
      <vt:lpstr>Utilidad neta final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Keysi Fuentes</dc:creator>
  <cp:keywords/>
  <dc:description>generated using python-pptx</dc:description>
  <cp:lastModifiedBy>GRACIAN CAMACHO, MAVI ANDREA LARISSA</cp:lastModifiedBy>
  <cp:revision>2</cp:revision>
  <dcterms:created xsi:type="dcterms:W3CDTF">2013-01-27T09:14:16Z</dcterms:created>
  <dcterms:modified xsi:type="dcterms:W3CDTF">2025-12-01T21:34:07Z</dcterms:modified>
  <cp:category/>
</cp:coreProperties>
</file>